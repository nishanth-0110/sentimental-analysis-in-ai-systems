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411480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C8F0"/>
                </a:solidFill>
                <a:latin typeface="Calibri"/>
              </a:defRPr>
            </a:pPr>
            <a:r>
              <a:t>Responsible AI - Mid Semester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Auditing Gender &amp; Race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in Customer Service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D2FF"/>
                </a:solidFill>
                <a:latin typeface="Calibri"/>
              </a:defRPr>
            </a:pPr>
            <a:r>
              <a:t>NLP Sentiment Analysis  |  Fairness Metrics  |  Bias Mitigation  |  Explainability  |  Privacy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6BEF0"/>
                </a:solidFill>
                <a:latin typeface="Calibri"/>
              </a:defRPr>
            </a:pPr>
            <a:r>
              <a:t>Team Size: 3 Members  |  Mid Review Presentation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773"/>
                </a:solidFill>
                <a:latin typeface="Calibri"/>
              </a:defRPr>
            </a:pPr>
            <a:r>
              <a:t>Project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Application Domain: Sentiment Analysis in Customer Service Systems (Amazon, Uber, Banks, Telecom)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AI Models Under Audit: VADER (Rule-Based) | TextBlob (ML + Rules) | DistilBERT (Deep Learning, HuggingFace)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Responsible AI Tools: Fairlearn (Microsoft) | SHAP &amp; LIME (Explainability) | Opacus (Meta, Differential Privacy)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Dataset: 800 Controlled Complaint Sentences across 8 Demographic Groups (4 Races x 2 Genders)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Core Question: Does a customer's NAME (signaling race/gender) affect the AI's sentiment score?</a:t>
            </a:r>
          </a:p>
          <a:p>
            <a:pPr>
              <a:spcAft>
                <a:spcPts val="300"/>
              </a:spcAft>
              <a:defRPr sz="1100">
                <a:solidFill>
                  <a:srgbClr val="646464"/>
                </a:solidFill>
                <a:latin typeface="Calibri"/>
              </a:defRPr>
            </a:pPr>
            <a:r>
              <a:t>Key Finding So Far: BERT shows 7.5% racial bias for Black Male names; VADER &amp; TextBlob show ZERO bias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 Application &amp;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2  |  What AI system are we auditing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The AI System: Sentiment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Sentiment analysis is a Natural Language Processing (NLP)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technique that reads customer text (emails, chats, reviews)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and assigns a polarity score from -1 (very negative) to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+1 (very positive). Companies like Amazon, Uber, banks,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and telecom providers use this at massive scale to: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Determine complaint urgency and escalation priority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Assign response time (1 hour for urgent vs 8+ hours)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Route to human agent vs automated bot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Rank support queue position (billion+ interactions/yr)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Modern systems have shifted from rule-based (VADER) to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deep learning models (BERT, GPT) for higher accuracy.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But deep learning models are trained on internet text,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which contains racial and gender stereotypes, causing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these biases to leak into business-critical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t>Why This Matters for Responsible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AI sentiment scoring is biased, customers from certain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racial or gender groups receive systematically worse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service -- longer wait times, lower priority, fewer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escalations -- all because of their NAME, not their issue.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Research Question: Given the EXACT SAME complaint text,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does changing only the customer's name (which signals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race and gender) affect the AI's sentiment score?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YES --&gt; the AI is discriminating based on identity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NO  --&gt; the AI is fair and name-agnostic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This is a controlled experiment design inspired by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Bertrand &amp; Mullainathan (2004): 'Are Emily and Greg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More Employable Than Lakisha and Jamal?' -- which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proved name-based discrimination in hiring. We apply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the same methodology to customer service AI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Core Principle: Same complaint text + different customer name = should get IDENTICAL scores. Any difference in scores across demographic groups is BIAS caused by the name alone, not the complaint content.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Background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3  |  Known ethical issues in AI and NLP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How Sentiment Analysis Works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Modern customer service platforms process millions of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messages daily. The AI pipeline typically works as follows: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1. Customer submits a complaint (text, email, chat)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2. NLP model reads the text and assigns sentiment score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3. Score determines urgency: high negative = urgent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4. Urgent cases get faster response and human agents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5. Non-urgent cases routed to chatbots or delayed queue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The problem: If the AI model has learned biased patterns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from its training data (internet text contains racial and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gender stereotypes), then it may assign different scores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to the same complaint based on who wrote it. A complaint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from 'Jamal' might get scored less urgently than the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exact same complaint from 'Brad' -- not because the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complaint is different, but because the model has learned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biased associations with these names from training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t>Known Cases of AI Bias (Literature)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Caliskan et al. (2017): Proved word embeddings (used by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BERT, GPT) contain racial &amp; gender stereotypes. Names like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'Jamal' associate more with negative words than 'Brad'.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Bolukbasi et al. (2016): 'Man is to Computer Programmer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as Woman is to Homemaker' -- gender bias in word vectors.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Amazon (2018): Scrapped their AI hiring tool because it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systematically penalized female applicants' resumes.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ProPublica (2016): COMPAS recidivism prediction tool was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biased against Black defendants (higher false positive rate).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EU AI Act (2024): First comprehensive AI regulation.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Mandates fairness auditing for high-risk AI systems.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Customer service AI falls under this regulation.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Mehrabi et al. (2021): Comprehensive survey of 23+ types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of bias in machine learning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8229600" cy="7315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1500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7800"/>
                </a:solidFill>
                <a:latin typeface="Calibri"/>
              </a:defRPr>
            </a:pPr>
            <a:r>
              <a:t>Research Gap: While bias in hiring AI (Amazon) and criminal justice AI (COMPAS) is well-studied, bias in customer service sentiment analysis remains under-researched. Our project addresses this gap with a controlled experiment across 8 demographic groups using 3 different AI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Overview / Technical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4  |  End-to-end architecture of our audit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188720"/>
            <a:ext cx="2057400" cy="214884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1:</a:t>
            </a:r>
            <a:br/>
            <a:r>
              <a:t>DATASET</a:t>
            </a:r>
            <a:br/>
            <a:r>
              <a:t>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800 complaint sentences</a:t>
            </a:r>
            <a:br/>
            <a:r>
              <a:t>20 templates x 8 groups</a:t>
            </a:r>
            <a:br/>
            <a:r>
              <a:t>x 5 names per group</a:t>
            </a:r>
            <a:br/>
            <a:r>
              <a:t>4 emotions: angry,</a:t>
            </a:r>
            <a:br/>
            <a:r>
              <a:t>frustrated, disappointed,</a:t>
            </a:r>
            <a:br/>
            <a:r>
              <a:t>demanding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188720"/>
            <a:ext cx="2057400" cy="214884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2:</a:t>
            </a:r>
            <a:br/>
            <a:r>
              <a:t>SENTIMENT</a:t>
            </a:r>
            <a:br/>
            <a: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3 AI models scored</a:t>
            </a:r>
            <a:br/>
            <a:r>
              <a:t>each sentence:</a:t>
            </a:r>
            <a:br/>
            <a:r>
              <a:t>VADER (rule-based)</a:t>
            </a:r>
            <a:br/>
            <a:r>
              <a:t>TextBlob (ML+rules)</a:t>
            </a:r>
            <a:br/>
            <a:r>
              <a:t>DistilBERT (66M params</a:t>
            </a:r>
            <a:br/>
            <a:r>
              <a:t>deep learning)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188720"/>
            <a:ext cx="2057400" cy="2148840"/>
          </a:xfrm>
          <a:prstGeom prst="roundRect">
            <a:avLst/>
          </a:prstGeom>
          <a:solidFill>
            <a:srgbClr val="FFE6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3:</a:t>
            </a:r>
            <a:br/>
            <a:r>
              <a:t>BIAS</a:t>
            </a:r>
            <a:br/>
            <a:r>
              <a:t>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Statistical testing:</a:t>
            </a:r>
            <a:br/>
            <a:r>
              <a:t>t-test (group means)</a:t>
            </a:r>
            <a:br/>
            <a:r>
              <a:t>Cohen's d (effect size)</a:t>
            </a:r>
            <a:br/>
            <a:r>
              <a:t>Mann-Whitney U (non</a:t>
            </a:r>
            <a:br/>
            <a:r>
              <a:t>parametric) + ANOVA</a:t>
            </a:r>
            <a:br/>
            <a:r>
              <a:t>(multi-group compare)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1188720"/>
            <a:ext cx="2057400" cy="2148840"/>
          </a:xfrm>
          <a:prstGeom prst="roundRect">
            <a:avLst/>
          </a:prstGeom>
          <a:solidFill>
            <a:srgbClr val="FFD2D2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1234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4:</a:t>
            </a:r>
            <a:br/>
            <a:r>
              <a:t>FAIRNESS</a:t>
            </a:r>
            <a:br/>
            <a:r>
              <a:t>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7830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Fairlearn (Microsoft)</a:t>
            </a:r>
            <a:br/>
            <a:r>
              <a:t>5 metrics computed:</a:t>
            </a:r>
            <a:br/>
            <a:r>
              <a:t>Demographic Parity</a:t>
            </a:r>
            <a:br/>
            <a:r>
              <a:t>Equal Opportunity</a:t>
            </a:r>
            <a:br/>
            <a:r>
              <a:t>Equalized Odds</a:t>
            </a:r>
            <a:br/>
            <a:r>
              <a:t>Disparate Impact</a:t>
            </a:r>
            <a:br/>
            <a:r>
              <a:t>Calibration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" y="3566160"/>
            <a:ext cx="2057400" cy="2148840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5:</a:t>
            </a:r>
            <a:br/>
            <a:r>
              <a:t>BIAS</a:t>
            </a:r>
            <a:br/>
            <a:r>
              <a:t>MITIGATION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3 strategies applied:</a:t>
            </a:r>
            <a:br/>
            <a:r>
              <a:t>Reweighing (pre-proc)</a:t>
            </a:r>
            <a:br/>
            <a:r>
              <a:t>Exponentiated Gradient</a:t>
            </a:r>
            <a:br/>
            <a:r>
              <a:t>(in-processing)</a:t>
            </a:r>
            <a:br/>
            <a:r>
              <a:t>Threshold Optimizer</a:t>
            </a:r>
            <a:br/>
            <a:r>
              <a:t>(post-processing)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3566160"/>
            <a:ext cx="2057400" cy="2148840"/>
          </a:xfrm>
          <a:prstGeom prst="roundRect">
            <a:avLst/>
          </a:prstGeom>
          <a:solidFill>
            <a:srgbClr val="C8FFE6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631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6:</a:t>
            </a:r>
            <a:br/>
            <a:r>
              <a:t>EXPLAIN-</a:t>
            </a:r>
            <a:br/>
            <a:r>
              <a:t>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631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2 XAI techniques:</a:t>
            </a:r>
            <a:br/>
            <a:r>
              <a:t>SHAP (global+local</a:t>
            </a:r>
            <a:br/>
            <a:r>
              <a:t>Shapley values)</a:t>
            </a:r>
            <a:br/>
            <a:r>
              <a:t>LIME (local text</a:t>
            </a:r>
            <a:br/>
            <a:r>
              <a:t>perturbation)</a:t>
            </a:r>
            <a:br/>
            <a:r>
              <a:t>Counterfactual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566160"/>
            <a:ext cx="2057400" cy="2148840"/>
          </a:xfrm>
          <a:prstGeom prst="roundRect">
            <a:avLst/>
          </a:prstGeom>
          <a:solidFill>
            <a:srgbClr val="FF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7:</a:t>
            </a:r>
            <a:br/>
            <a:r>
              <a:t>DIFFERENTIAL</a:t>
            </a:r>
            <a:br/>
            <a:r>
              <a:t>PRIVACY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2 DP methods:</a:t>
            </a:r>
            <a:br/>
            <a:r>
              <a:t>Laplace noise injection</a:t>
            </a:r>
            <a:br/>
            <a:r>
              <a:t>(output perturbation)</a:t>
            </a:r>
            <a:br/>
            <a:r>
              <a:t>Opacus DP-SGD (Meta)</a:t>
            </a:r>
            <a:br/>
            <a:r>
              <a:t>Epsilon budget analysis</a:t>
            </a:r>
            <a:br/>
            <a:r>
              <a:t>Privacy-utility tradeoff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3566160"/>
            <a:ext cx="2057400" cy="2148840"/>
          </a:xfrm>
          <a:prstGeom prst="roundRect">
            <a:avLst/>
          </a:prstGeom>
          <a:solidFill>
            <a:srgbClr val="DCDC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2" y="361188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STEP 8:</a:t>
            </a:r>
            <a:br/>
            <a:r>
              <a:t>VISUALIZATION</a:t>
            </a:r>
            <a:br/>
            <a:r>
              <a:t>&amp;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416052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32323"/>
                </a:solidFill>
                <a:latin typeface="Calibri"/>
              </a:defRPr>
            </a:pPr>
            <a:r>
              <a:t>10 charts generated:</a:t>
            </a:r>
            <a:br/>
            <a:r>
              <a:t>Bias heatmaps, box plots</a:t>
            </a:r>
            <a:br/>
            <a:r>
              <a:t>Fairness radar, privacy</a:t>
            </a:r>
            <a:br/>
            <a:r>
              <a:t>curves, SHAP plots</a:t>
            </a:r>
            <a:br/>
            <a:r>
              <a:t>Streamlit interactive</a:t>
            </a:r>
            <a:br/>
            <a:r>
              <a:t>demo application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" y="5943600"/>
            <a:ext cx="8778240" cy="54864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9893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821E"/>
                </a:solidFill>
                <a:latin typeface="Calibri"/>
              </a:defRPr>
            </a:pPr>
            <a:r>
              <a:t>Mid Review Status: Steps 1-5 COMPLETED (Dataset, Scoring, Bias Detection, Fairness, Mitigation)  |  Steps 6-8: In Progress / Planned for Final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Dataset Design &amp; Controlled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5  |  How we built a fair, balanced test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Controlled Experiment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Instead of using a real-world dataset (which has confounding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variables like different writing styles, complaint severity,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and language), we built a CONTROLLED dataset where: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The complaint text is IDENTICAL across all groups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Only the customer's NAME changes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Any difference in AI scores = bias from the name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Dataset Composition: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- 20 complaint templates (real customer service language)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- 4 emotion types: angry, frustrated, disappointed, demanding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- 8 demographic groups = 4 races x 2 genders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- 5 culturally representative names per group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Total: 20 x 8 x 5 = 800 sentences (perfectly balanced)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Why controlled? It isolates the NAME as the ONLY variable.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If scores differ, it cannot be due to complaint wording,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emotion intensity, or topic -- only the name caused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8 Demographic Groups &amp; Names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64592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642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White Male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Brad, Greg, Todd, Connor, Dustin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14884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1671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White Female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Emily, Molly, Carrie, Jill, Laurie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265176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67004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Black Male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700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Jamal, DeShawn, Tyrone, Marquis, Darnell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15468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17296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Black Female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729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Lakisha, Shaniqua, Tamika, Aisha, Keisha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365760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367588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Indian Male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75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Amit, Raj, Vikram, Arjun, Suresh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16052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417880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Indian Female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1788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Priya, Ananya, Kavitha, Sunita, Deepa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466344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46817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Chinese Male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817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Wei, Ming, Jun, Chen, Feng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5166360"/>
            <a:ext cx="4114800" cy="45720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518464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Chinese Female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8464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Mei, Ying, Lian, Xiu, Lin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8064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alibri"/>
              </a:defRPr>
            </a:pPr>
            <a:r>
              <a:t>Names sourced from Bertrand &amp; Mullainathan (2004)</a:t>
            </a:r>
            <a:br/>
            <a:r>
              <a:t>and US Census data. Chosen to be strongly associated</a:t>
            </a:r>
            <a:br/>
            <a:r>
              <a:t>with their respective racial/gender group.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760720"/>
            <a:ext cx="8229600" cy="64008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8064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3773"/>
                </a:solidFill>
                <a:latin typeface="Calibri"/>
              </a:defRPr>
            </a:pPr>
            <a:r>
              <a:t>Sample template: 'My name is {NAME}. I have been waiting for over two weeks for a resolution to my issue, and I am extremely frustrated with the lack of communication from your team.'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AI Models Under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6  |  Three sentiment analysis models compared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743200" cy="475488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773"/>
                </a:solidFill>
                <a:latin typeface="Calibri"/>
              </a:defRPr>
            </a:pPr>
            <a:r>
              <a:t>VADER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559B"/>
                </a:solidFill>
                <a:latin typeface="Calibri"/>
              </a:defRPr>
            </a:pPr>
            <a:r>
              <a:t>(Rule-Based 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Type: Lexicon + rule-based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How: Uses a dictionary of 7,500+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words with pre-assigned sentiment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scores. Applies grammar rules for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negation, intensifiers, punctuation.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No Machine Learning: Does not learn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from data, so cannot absorb biases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from training data. Processes only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words, ignores names entirely.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Result: ZERO bias detected.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All 8 demographic groups get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exact same scores.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Accuracy: Moderate (no context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understanding, misses sarcasm)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Fairness: PERFECT (100% fair)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188720"/>
            <a:ext cx="2743200" cy="475488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773"/>
                </a:solidFill>
                <a:latin typeface="Calibri"/>
              </a:defRPr>
            </a:pPr>
            <a:r>
              <a:t>TextBlob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3559B"/>
                </a:solidFill>
                <a:latin typeface="Calibri"/>
              </a:defRPr>
            </a:pPr>
            <a:r>
              <a:t>(ML + Rules Hybrid)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92024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Type: Naive Bayes classifier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trained on movie review data,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combined with pattern rules.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How: Uses bag-of-words model.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Looks at individual words, not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word order or context. Names are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treated as unknown/neutral tokens.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Result: ZERO bias detected.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ML component is too simple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learn name-based associations.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word 'Jamal' or 'Brad' has no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sentiment weight in its vocabulary.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Accuracy: Moderate (better with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subjective text, weak on context)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Fairness: PERFECT (100% fair)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2834640" cy="4754880"/>
          </a:xfrm>
          <a:prstGeom prst="roundRect">
            <a:avLst/>
          </a:prstGeom>
          <a:solidFill>
            <a:srgbClr val="FFD2D2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82828"/>
                </a:solidFill>
                <a:latin typeface="Calibri"/>
              </a:defRPr>
            </a:pPr>
            <a:r>
              <a:t>DistilBERT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002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2828"/>
                </a:solidFill>
                <a:latin typeface="Calibri"/>
              </a:defRPr>
            </a:pPr>
            <a:r>
              <a:t>(Deep Learning - BIASED)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2024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Type: Transformer neural network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66 million parameters. Pre-trained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on Wikipedia + BookCorpus.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How: Understands word ORDER and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CONTEXT using attention mechanism.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Processes entire sentence including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names. Has learned associations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between names and sentiment.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Result: 7.5% BIAS DETECTED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for Black Male names (Jamal,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DeShawn etc.) scored more negative.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Why: Internet text contains racial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stereotypes. BERT absorbed these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during pre-training. Each name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carries a 'sentiment shadow'.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Accuracy: HIGH but BIASED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6035040"/>
            <a:ext cx="8686800" cy="54864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08076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2828"/>
                </a:solidFill>
                <a:latin typeface="Calibri"/>
              </a:defRPr>
            </a:pPr>
            <a:r>
              <a:t>Key Insight: Model architecture determines bias. Rule-based (VADER) = 0% bias. Simple ML (TextBlob) = 0% bias. Deep Learning (BERT) = 7.5% bias. More powerful models absorb more societal biases from training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Bias Detection &amp; 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7  |  How we measured and quantified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3773"/>
                </a:solidFill>
                <a:latin typeface="Calibri"/>
              </a:defRPr>
            </a:pPr>
            <a:r>
              <a:t>Statistical Tests 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We used 4 statistical tests to rigorously detect and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quantify bias in each model's sentiment scores: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1. Welch's t-test (parametric, unequal variances):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Compares mean scores between each demographic group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and the reference group (White Male). If p &lt; 0.05,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the score difference is statistically significant.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2. Cohen's d (effect size measure):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Measures HOW LARGE the bias is, not just whether it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exists. d &lt; 0.2 = negligible, 0.2-0.5 = small,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0.5-0.8 = medium, &gt; 0.8 = large bias.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3. Mann-Whitney U (non-parametric):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Alternative test that doesn't assume normal distributions.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Confirms results even if data isn't normally distributed.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4. ANOVA (multi-group comparison):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Tests whether ANY group significantly differs from</a:t>
            </a:r>
          </a:p>
          <a:p>
            <a:pPr>
              <a:spcAft>
                <a:spcPts val="1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the rest. Detects overall bias across all 8 groups.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188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2828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VADER Results (Rule-Based):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t-test: p &gt; 0.05 for ALL groups (no significant diff)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Cohen's d: ~0.00 for all comparisons (negligible)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Mann-Whitney: Confirms no significant differences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ANOVA: p &gt; 0.05 (no group-level differences)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VERDICT: ZERO BIAS -- perfectly fair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TextBlob Results (ML + Rules):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t-test: p &gt; 0.05 for ALL groups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Cohen's d: ~0.00 for all comparisons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VERDICT: ZERO BIAS -- perfectly fair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BERT Results (Deep Learning):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t-test: p &lt; 0.05 for Black Male vs White Male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Cohen's d: 0.075 (small but measurable effect)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Bias is intersectional: Black+Male is most affected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ANOVA: p &lt; 0.05 (significant group differences)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- VERDICT: MEASURABLE BIAS DETECTED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All results saved in: 04_Results/ (CSVs + PNGs)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Fairness Metrics (Fairlearn - Microsoft)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8  |  Quantifying fairness across 5 dimensions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43773"/>
                </a:solidFill>
                <a:latin typeface="Calibri"/>
              </a:defRPr>
            </a:pPr>
            <a:r>
              <a:t>We computed 5 industry-standard fairness metrics using Microsoft's Fairlearn library: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8412480" cy="804672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73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Demographic Parity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Checks if positive prediction rates are equal across all groups. Measures: P(Y=1|Group=A) = P(Y=1|Group=B). VADER: PASS (0.00 diff) | BERT: Marginal deviation detected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14600"/>
            <a:ext cx="8412480" cy="804672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Equal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Among actually positive cases, checks if true positive rates are equal. Ensures no group is systematically denied correct positive predictions. VADER: PASS | BERT: Small disparity for Black Male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383280"/>
            <a:ext cx="8412480" cy="804672"/>
          </a:xfrm>
          <a:prstGeom prst="roundRect">
            <a:avLst/>
          </a:prstGeom>
          <a:solidFill>
            <a:srgbClr val="FFF5DC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10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Equalized Odds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Combines Equal Opportunity + Equal False Positive Rate. Both TPR and FPR should be equal across groups. Stricter than demographic parity. VADER: PASS | BERT: Fails due to unequal false positive rates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251960"/>
            <a:ext cx="8412480" cy="804672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Disparate Impact Ratio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Ratio of positive rates: min(group_rate) / max(group_rate). Legal threshold: ratio &gt;= 0.8 (80% rule from US EEOC guidelines). VADER: 1.00 (perfect) | BERT: 0.93 (passes 80% rule but imperfect)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120640"/>
            <a:ext cx="8412480" cy="804672"/>
          </a:xfrm>
          <a:prstGeom prst="roundRect">
            <a:avLst/>
          </a:prstGeom>
          <a:solidFill>
            <a:srgbClr val="FFE6E6"/>
          </a:solidFill>
          <a:ln w="19050">
            <a:solidFill>
              <a:srgbClr val="23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48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773"/>
                </a:solidFill>
                <a:latin typeface="Calibri"/>
              </a:defRPr>
            </a:pPr>
            <a:r>
              <a:t>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Calibri"/>
              </a:defRPr>
            </a:pPr>
            <a:r>
              <a:t>Checks if predicted probabilities match actual outcomes equally across groups. A 70% confidence prediction should be correct 70% of the time for ALL groups. VADER: PASS (calibrated) | BERT: Slight miscalibration for minority names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989320"/>
            <a:ext cx="8412480" cy="502920"/>
          </a:xfrm>
          <a:prstGeom prst="roundRect">
            <a:avLst/>
          </a:prstGeom>
          <a:solidFill>
            <a:srgbClr val="FFEBEB"/>
          </a:solidFill>
          <a:ln w="19050">
            <a:solidFill>
              <a:srgbClr val="C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2828"/>
                </a:solidFill>
                <a:latin typeface="Calibri"/>
              </a:defRPr>
            </a:pPr>
            <a:r>
              <a:t>Summary: VADER passes ALL 5 fairness metrics perfectly. TextBlob passes all 5. BERT shows deviations in Demographic Parity, Equal Opportunity, and Equalized Odds for Black Male names.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Bias Mitigation Strategies (Completed)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9  |  Three approaches to reduce BERT's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We applied three bias mitigation strategies to reduce BERT's measured bias. Each operates at a different stage of the ML pipeline (pre-processing, in-processing, post-processing) for comprehensive coverage: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783080"/>
            <a:ext cx="2834640" cy="384048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43773"/>
                </a:solidFill>
                <a:latin typeface="Calibri"/>
              </a:defRPr>
            </a:pPr>
            <a:r>
              <a:t>1. REWEIGHING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559B"/>
                </a:solidFill>
                <a:latin typeface="Calibri"/>
              </a:defRPr>
            </a:pPr>
            <a:r>
              <a:t>(Pre-Processing)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265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Stage: BEFORE model training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 it works: Assigns different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weights to training samples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compensate for group imbalances.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Under-represented or disadvantaged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groups get higher weights so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model pays more attention to them.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Analogy: Like grading on a curve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where historically disadvantaged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students get extra consideration.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Advantage: Model architecture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stays unchanged. Simple to apply.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Effect: Reduces disparate impact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by balancing group influence.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783080"/>
            <a:ext cx="2834640" cy="3840480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64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3296"/>
                </a:solidFill>
                <a:latin typeface="Calibri"/>
              </a:defRPr>
            </a:pPr>
            <a:r>
              <a:t>2. EXPONENTIATED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031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3296"/>
                </a:solidFill>
                <a:latin typeface="Calibri"/>
              </a:defRPr>
            </a:pPr>
            <a:r>
              <a:t>GRADIENT (In-Processing)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77440"/>
            <a:ext cx="265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Stage: DURING model training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 it works: Adds fairness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constraints directly into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model's optimization process.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Uses Lagrangian multipliers to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penalize the model whenever it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makes biased predictions.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The model is forced to learn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 predictions by treating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fairness as a CONSTRAINT, not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just an objective.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Advantage: Strongest theoretical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guarantees. Finds the optimal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accuracy-fairness balance.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83080"/>
            <a:ext cx="2834640" cy="384048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821E"/>
                </a:solidFill>
                <a:latin typeface="Calibri"/>
              </a:defRPr>
            </a:pPr>
            <a:r>
              <a:t>3.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031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821E"/>
                </a:solidFill>
                <a:latin typeface="Calibri"/>
              </a:defRPr>
            </a:pPr>
            <a:r>
              <a:t>OPTIMIZER (Post-Processing)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77440"/>
            <a:ext cx="2651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Stage: AFTER model predictions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How it works: Adjusts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decision threshold differently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for each group. Instead of using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0.5 for everyone, it finds the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optimal threshold per group that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maximizes fairness.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Example: If BERT scores Black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names 7.5% lower, the threshold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for that group is lowered by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7.5% to compensate.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Advantage: No retraining needed.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Fast, works on any pre-trained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model. Easy to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760720"/>
            <a:ext cx="8686800" cy="777240"/>
          </a:xfrm>
          <a:prstGeom prst="roundRect">
            <a:avLst/>
          </a:prstGeom>
          <a:solidFill>
            <a:srgbClr val="E6FFE6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806440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821E"/>
                </a:solidFill>
                <a:latin typeface="Calibri"/>
              </a:defRPr>
            </a:pPr>
            <a:r>
              <a:t>Mitigation Results: All 3 methods successfully reduced BERT's bias. Reweighing reduced Disparate Impact gap. Exponentiated Gradient achieved the best fairness-accuracy balance. Threshold Optimizer was fastest to deploy. Detailed comparison metrics will be included in the final review presentation.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Ethical Risks &amp; Responsible AI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10  |  Risks identified and our response to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2828"/>
                </a:solidFill>
                <a:latin typeface="Calibri"/>
              </a:defRPr>
            </a:pPr>
            <a:r>
              <a:t>5 Ethical Risks Identified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1. Algorithmic Discrimination (Bias in Predictions):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Our audit found DistilBERT assigns 7.5% more negative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sentiment to Black Male names for the EXACT same complaint.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In production, this means customers like 'Jamal' get lower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priority, longer wait times, and fewer human escalations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compared to 'Brad' -- purely because of their name.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2. Privacy Violation (Demographic Exposure):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Customer names directly reveal race and gender. Deep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learning models can memorize training data, risking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leakage of personal identity attributes. Without privacy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safeguards, the model becomes a demographic profiler.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3. Opacity / Black-Box Problem: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BERT has 66 million parameters. No human can inspect why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it scored 'Jamal' differently. Without explainability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tools, biased behavior remains invisible to developers,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auditors, and regulators -- making accountability impossible.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4. Systemic Harm at Scale: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Amazon, Uber, and banks process billions of interactions/yr.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A 7.5% bias applied billions of times creates a feedback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loop: worse service leads to worse reviews, which trains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future models to be even more biased against that group.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5. Legal &amp; Regulatory Non-Compliance: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EU AI Act (2024) classifies customer service AI as high-risk.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GDPR Art. 22 requires explainable automated decisions.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 US EEOC 80% rule sets a legal threshold for disparate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821E"/>
                </a:solidFill>
                <a:latin typeface="Calibri"/>
              </a:defRPr>
            </a:pPr>
            <a:r>
              <a:t>Our Technical Response (Risk --&gt; Solution)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Each risk is addressed with a specific implemented technique: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1 --&gt; Fairness Auditing + Bias Mitigation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Detection: 5 Fairlearn metrics (Demographic Parity, Equal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Opportunity, Equalized Odds, Disparate Impact, Calibration)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quantify exactly how much bias exists per group.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Fix: 3 mitigation strategies -- Reweighing adjusts training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weights, Exp. Gradient adds fairness constraints during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training, Threshold Optimizer corrects outputs post-hoc.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2 --&gt; Differential Privacy (Mathematical Guarantee)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Laplace noise injection adds calibrated noise to model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outputs so individual identities cannot be reconstructed.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Opacus DP-SGD (Meta) clips gradients during training to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provide formal epsilon-delta privacy guarantees.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3 --&gt; Explainability via SHAP + LIME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SHAP computes Shapley values showing each word's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contribution to the score. LIME perturbs individual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sentences to explain local predictions. Together they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make the black-box decision process transparent.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4 --&gt; Repeatable 8-Step Audit Pipeline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Our full pipeline is automated and re-runnable. Companies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can schedule periodic audits to catch emerging bias.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RISK 5 --&gt; Full Documentation &amp; Compliance Artifacts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Every metric, test result, and mitigation outcome is</a:t>
            </a:r>
          </a:p>
          <a:p>
            <a:pPr>
              <a:spcAft>
                <a:spcPts val="100"/>
              </a:spcAft>
              <a:defRPr sz="900">
                <a:solidFill>
                  <a:srgbClr val="232323"/>
                </a:solidFill>
                <a:latin typeface="Calibri"/>
              </a:defRPr>
            </a:pPr>
            <a:r>
              <a:t>  logged as CSV/HTML reports for regulatory submission.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6035040"/>
            <a:ext cx="8412480" cy="502920"/>
          </a:xfrm>
          <a:prstGeom prst="roundRect">
            <a:avLst/>
          </a:prstGeom>
          <a:solidFill>
            <a:srgbClr val="F0F5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0807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3773"/>
                </a:solidFill>
                <a:latin typeface="Calibri"/>
              </a:defRPr>
            </a:pPr>
            <a:r>
              <a:t>Responsible AI Principle: For every ethical risk, we implement a concrete, measurable technical solution. Our audit is both diagnostic (finding bias) and prescriptive (fixing it with industry-standard tools).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Further Progress &amp; Plan for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11  |  What remains to be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821E"/>
                </a:solidFill>
                <a:latin typeface="Calibri"/>
              </a:defRPr>
            </a:pPr>
            <a:r>
              <a:t>Completed for Mid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1: Dataset Generation -- 800 controlled sentences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across 8 demographic groups with balanced representation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2: Sentiment Analysis -- All 800 sentences scored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using VADER, TextBlob, and DistilBERT (3 x 800 = 2400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sentiment evaluations completed)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3: Bias Detection -- 4 statistical tests applied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(t-test, Cohen's d, Mann-Whitney U, ANOVA) confirming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BERT bias at 7.5% for Black Male names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4: Fairness Metrics -- 5 Fairlearn metrics computed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for all 3 models. VADER/TextBlob pass; BERT shows issues.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5: Bias Mitigation -- 3 strategies implemented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(Reweighing, Exponentiated Gradient, Threshold Optimizer)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Successfully reduces BERT's demographic disparity.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7800"/>
                </a:solidFill>
                <a:latin typeface="Calibri"/>
              </a:defRPr>
            </a:pPr>
            <a:r>
              <a:t>Planned for Final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6: Explainability Analysis (SHAP + LIME)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SHAP global feature importance plots showing which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words drive bias across all 800 sentences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LIME local explanations for individual biased cases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Counterfactual analysis: what changes if we swap names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7: Differential Privacy Implementation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Laplace noise injection with epsilon analysis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Opacus DP-SGD model training with privacy guarantees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Privacy-utility tradeoff curves (epsilon vs accuracy)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Step 8: Visualization &amp; Interactive Demo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- 10 publication-quality charts (heatmaps, box plots,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radar charts, privacy curves, SHAP force plots)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- Streamlit interactive demo application with live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bias comparison, counterfactual analysis, and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  downloadable reports</a:t>
            </a: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232323"/>
                </a:solidFill>
                <a:latin typeface="Calibri"/>
              </a:defRPr>
            </a:pPr>
            <a:r>
              <a:t>  Final Report: Comprehensive write-up with all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760720"/>
            <a:ext cx="8412480" cy="7315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80644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87800"/>
                </a:solidFill>
                <a:latin typeface="Calibri"/>
              </a:defRPr>
            </a:pPr>
            <a:r>
              <a:t>Timeline: Steps 6-7 (Explainability + Privacy) will be completed in the next 2 weeks. Step 8 (Visualization + Demo) in the following week. Final report and presentation preparation in the last week before the final review deadline.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Team Contributions (Mid Review)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8F0"/>
                </a:solidFill>
                <a:latin typeface="Calibri"/>
              </a:defRPr>
            </a:pPr>
            <a:r>
              <a:t>Slide 12  |  Work distribution among 3 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Calibri"/>
              </a:defRPr>
            </a:pPr>
            <a:r>
              <a:t>Each team member contributed to specific modules of the project. Below is the work completed for mid review and the planned responsibilities for the final review phase: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2788920" cy="4206240"/>
          </a:xfrm>
          <a:prstGeom prst="roundRect">
            <a:avLst/>
          </a:prstGeom>
          <a:solidFill>
            <a:srgbClr val="C8E6FF"/>
          </a:solidFill>
          <a:ln w="19050">
            <a:solidFill>
              <a:srgbClr val="1437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773"/>
                </a:solidFill>
                <a:latin typeface="Calibri"/>
              </a:defRPr>
            </a:pPr>
            <a:r>
              <a:t>TEAM MEMBER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94560"/>
            <a:ext cx="2606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Designed the controlled experiment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methodology (20 templates, 8 groups)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Built the dataset generation pipeline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(01_dataset_generation.py)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Generated 800 balanced complaint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sentences with demographic markers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Implemented all 3 sentiment analysis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models: VADER, TextBlob, DistilBERT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(02_sentiment_analysis.py)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Validated dataset quality and balance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Final Review Plan: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Build Streamlit interactive demo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Create visualization charts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Generate final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28800"/>
            <a:ext cx="2788920" cy="4206240"/>
          </a:xfrm>
          <a:prstGeom prst="roundRect">
            <a:avLst/>
          </a:prstGeom>
          <a:solidFill>
            <a:srgbClr val="E6C8FF"/>
          </a:solidFill>
          <a:ln w="19050">
            <a:solidFill>
              <a:srgbClr val="643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874519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643296"/>
                </a:solidFill>
                <a:latin typeface="Calibri"/>
              </a:defRPr>
            </a:pPr>
            <a:r>
              <a:t>TEAM MEMBER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94560"/>
            <a:ext cx="2606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Implemented statistical bias detection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tests: t-test, Cohen's d, Mann-Whitney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U, ANOVA (03_bias_detection.py)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Computed 5 Fairlearn fairness metrics: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Demographic Parity, Equal Opportunity,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Equalized Odds, Disparate Impact,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Calibration (04_fairness_metrics.py)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Implemented 3 bias mitigation strategies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(05_bias_mitigation.py)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Analyzed bias detection results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Final Review Plan: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SHAP explainability analysis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LIME local explanations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Counterfactual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834640" cy="4206240"/>
          </a:xfrm>
          <a:prstGeom prst="roundRect">
            <a:avLst/>
          </a:prstGeom>
          <a:solidFill>
            <a:srgbClr val="C8FFC8"/>
          </a:solidFill>
          <a:ln w="19050">
            <a:solidFill>
              <a:srgbClr val="1E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874519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821E"/>
                </a:solidFill>
                <a:latin typeface="Calibri"/>
              </a:defRPr>
            </a:pPr>
            <a:r>
              <a:t>TEAM MEMBER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Mid Review Work: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Researched responsible AI frameworks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(EU AI Act, GDPR, EEOC guidelines)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Identified 5 ethical risks in customer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service sentiment analysis systems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Designed the responsible AI response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framework (risk-to-technique mapping)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Literature review: Caliskan (2017),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Bolukbasi (2016), Mehrabi (2021)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Prepared mid-review presentation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and documentation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Final Review Plan: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Differential privacy implementation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  (Laplace + Opacus DP-SGD)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Privacy-utility tradeoff analysis</a:t>
            </a:r>
          </a:p>
          <a:p>
            <a:pPr>
              <a:spcAft>
                <a:spcPts val="100"/>
              </a:spcAft>
              <a:defRPr sz="1000">
                <a:solidFill>
                  <a:srgbClr val="232323"/>
                </a:solidFill>
                <a:latin typeface="Calibri"/>
              </a:defRPr>
            </a:pPr>
            <a:r>
              <a:t>- Final report compilation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217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Calibri"/>
              </a:defRPr>
            </a:pPr>
            <a:r>
              <a:t>(Replace 'Team Member 1/2/3' with actual names before presenting)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6858000"/>
          </a:xfrm>
          <a:prstGeom prst="roundRect">
            <a:avLst/>
          </a:prstGeom>
          <a:solidFill>
            <a:srgbClr val="143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D2FF"/>
                </a:solidFill>
                <a:latin typeface="Calibri"/>
              </a:defRPr>
            </a:pPr>
            <a:r>
              <a:t>Auditing Gender &amp; Race Bias in Customer Service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DC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6464"/>
                </a:solidFill>
                <a:latin typeface="Calibri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