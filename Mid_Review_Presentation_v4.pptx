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26" autoAdjust="0"/>
  </p:normalViewPr>
  <p:slideViewPr>
    <p:cSldViewPr snapToGrid="0" snapToObjects="1">
      <p:cViewPr varScale="1">
        <p:scale>
          <a:sx n="96" d="100"/>
          <a:sy n="96" d="100"/>
        </p:scale>
        <p:origin x="106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1148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8F0"/>
                </a:solidFill>
                <a:latin typeface="Calibri"/>
              </a:defRPr>
            </a:pPr>
            <a:r>
              <a:t>Responsible AI - Mid Semester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Auditing Gender &amp; Race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 Customer Service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2FF"/>
                </a:solidFill>
                <a:latin typeface="Calibri"/>
              </a:defRPr>
            </a:pPr>
            <a:r>
              <a:t>NLP Sentiment Analysis  |  Fairness Metrics  |  Bias Mitigation  |  Explainability  | 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773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Application Domain: Sentiment Analysis in Customer Service Systems (Amazon, Uber, Banks, Telecom)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AI Models Under Audit: VADER (Rule-Based) | TextBlob (ML + Rules) | DistilBERT (Deep Learning, HuggingFace)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Responsible AI Tools: Fairlearn (Microsoft) | SHAP &amp; LIME (Explainability) | Opacus (Meta, Differential Privacy)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Dataset: 800 Controlled Complaint Sentences across 8 Demographic Groups (4 Races x 2 Genders)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Core Question: Does a customer's NAME (signaling race/gender) affect the AI's sentiment score?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Key Finding So Far: BERT shows 7.5% racial bias for Black Male names; VADER &amp; TextBlob show ZERO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Application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2  |  What AI system are we auditing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rPr dirty="0"/>
              <a:t>The AI System: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Sentiment analysis is a Natural Language Processing (NLP)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technique that reads customer text (emails, chats, reviews)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and assigns a polarity score from -1 (very negative)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+1 (very positive). Companies like Amazon, Uber, banks,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and telecom providers use this at massive scale to: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- Determine complaint urgency and escalation priority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- Assign response time (1 hour for urgent vs 8+ hours)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- Route to human agent vs automated bot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- Rank support queue position (billion+ interactions/yr)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Modern systems have shifted from rule-based (VADER)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deep learning models (BERT, GPT) for higher accuracy.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But deep learning models are trained on internet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which contains racial and gender stereotypes, causing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these biases to leak into business-critical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Why This Matters for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1694" y="1574968"/>
            <a:ext cx="4114800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If AI sentiment scoring is biased, customers from certain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racial or gender groups receive systematically worse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service -- longer wait times, lower priority, fewer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escalations -- all because of their NAME, not their issue.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Research Question: Given the EXACT SAME complaint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does changing only the customer's name (which signals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race and gender) affect the AI's sentiment score?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If YES --&gt; the AI is discriminating based on identity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If NO  --&gt; the AI is fair and name-agnostic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This is a controlled experiment design inspired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Bertrand &amp; Mullainathan (2004): 'Are Emily and Greg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More Employable Than Lakisha and Jamal?' --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proved name-based discrimination in hiring. We apply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the same methodology to customer service AI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894" y="5737305"/>
            <a:ext cx="8229600" cy="9144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208" y="5866002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rPr sz="1400" dirty="0"/>
              <a:t>Core Principle: Same complaint text + different customer name = should get IDENTICAL scores. Any difference in scores across demographic groups is BIAS caused by the name alone, not the complaint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3  |  Known ethical issues in AI and NLP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How Sentiment Analysis Works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Modern customer service platforms process millions of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messages daily. The AI pipeline typically works as follows: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1. Customer submits a complaint (text, email, chat)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2. NLP model reads the text and assigns sentiment score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3. Score determines urgency: high negative = urgent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4. Urgent cases get faster response and human agents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5. Non-urgent cases routed to chatbots or delayed queue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The problem: If the AI model has learned biased patterns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from its training data (internet text contains racial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gender stereotypes), then it may assign different scores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to the same complaint based on who wrote it. A complaint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from 'Jamal' might get scored less urgently than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exact same complaint from 'Brad' -- not because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complaint is different, but because the model has learned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biased associations with these names from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Known Cases of AI Bias (Literature)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3626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Caliskan et al. (2017): Proved word embeddings (used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BERT, GPT) contain racial &amp; gender stereotypes. Names like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'Jamal' associate more with negative words than 'Brad'.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 err="1"/>
              <a:t>Bolukbasi</a:t>
            </a:r>
            <a:r>
              <a:rPr sz="1200" dirty="0"/>
              <a:t> et al. (2016): 'Man is to Computer Programmer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as Woman is to Homemaker' -- gender bias in word vectors.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Amazon (2018): Scrapped their AI hiring tool because it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systematically penalized female applicants' resumes.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ProPublica (2016): COMPAS recidivism prediction tool was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biased against Black defendants (higher false positive rate).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EU AI Act (2024): First comprehensive AI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Mandates fairness auditing for high-risk AI systems.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Customer service AI falls under this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7800"/>
                </a:solidFill>
                <a:latin typeface="Calibri"/>
              </a:defRPr>
            </a:pPr>
            <a:r>
              <a:t>Research Gap: While bias in hiring AI (Amazon) and criminal justice AI (COMPAS) is well-studied, bias in customer service sentiment analysis remains under-researched. Our project addresses this gap with a controlled experiment across 8 demographic groups using 3 different AI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Overview / Technical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4  |  End-to-end architecture of our audit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2057400" cy="214884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1:</a:t>
            </a:r>
            <a:br/>
            <a:r>
              <a:t>DATASET</a:t>
            </a:r>
            <a:br/>
            <a:r>
              <a:t>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800 complaint sentences</a:t>
            </a:r>
            <a:br/>
            <a:r>
              <a:t>20 templates x 8 groups</a:t>
            </a:r>
            <a:br/>
            <a:r>
              <a:t>x 5 names per group</a:t>
            </a:r>
            <a:br/>
            <a:r>
              <a:t>4 emotions: angry,</a:t>
            </a:r>
            <a:br/>
            <a:r>
              <a:t>frustrated, disappointed,</a:t>
            </a:r>
            <a:br/>
            <a:r>
              <a:t>demanding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188720"/>
            <a:ext cx="2057400" cy="214884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9631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2:</a:t>
            </a:r>
            <a:br/>
            <a:r>
              <a:t>SENTIMENT</a:t>
            </a:r>
            <a:br/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AI models scored</a:t>
            </a:r>
            <a:br/>
            <a:r>
              <a:t>each sentence:</a:t>
            </a:r>
            <a:br/>
            <a:r>
              <a:t>VADER (rule-based)</a:t>
            </a:r>
            <a:br/>
            <a:r>
              <a:t>TextBlob (ML+rules)</a:t>
            </a:r>
            <a:br/>
            <a:r>
              <a:t>DistilBERT (66M params</a:t>
            </a:r>
            <a:br/>
            <a:r>
              <a:t>deep learning)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188720"/>
            <a:ext cx="2057400" cy="2148840"/>
          </a:xfrm>
          <a:prstGeom prst="roundRect">
            <a:avLst/>
          </a:prstGeom>
          <a:solidFill>
            <a:srgbClr val="FFE6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3:</a:t>
            </a:r>
            <a:br/>
            <a:r>
              <a:t>BIAS</a:t>
            </a:r>
            <a:br/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Statistical testing:</a:t>
            </a:r>
            <a:br/>
            <a:r>
              <a:t>t-test (group means)</a:t>
            </a:r>
            <a:br/>
            <a:r>
              <a:t>Cohen's d (effect size)</a:t>
            </a:r>
            <a:br/>
            <a:r>
              <a:t>Mann-Whitney U (non</a:t>
            </a:r>
            <a:br/>
            <a:r>
              <a:t>parametric) + ANOVA</a:t>
            </a:r>
            <a:br/>
            <a:r>
              <a:t>(multi-group compare)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188720"/>
            <a:ext cx="2057400" cy="214884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7687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4:</a:t>
            </a:r>
            <a:br/>
            <a:r>
              <a:t>FAIRNESS</a:t>
            </a:r>
            <a:br/>
            <a:r>
              <a:t>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Fairlearn (Microsoft)</a:t>
            </a:r>
            <a:br/>
            <a:r>
              <a:t>5 metrics computed:</a:t>
            </a:r>
            <a:br/>
            <a:r>
              <a:t>Demographic Parity</a:t>
            </a:r>
            <a:br/>
            <a:r>
              <a:t>Equal Opportunity</a:t>
            </a:r>
            <a:br/>
            <a:r>
              <a:t>Equalized Odds</a:t>
            </a:r>
            <a:br/>
            <a:r>
              <a:t>Disparate Impact</a:t>
            </a:r>
            <a:br/>
            <a:r>
              <a:t>Calibration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3566160"/>
            <a:ext cx="2057400" cy="214884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603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5:</a:t>
            </a:r>
            <a:br/>
            <a:r>
              <a:t>BIAS</a:t>
            </a:r>
            <a:br/>
            <a:r>
              <a:t>MITIGATION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strategies applied:</a:t>
            </a:r>
            <a:br/>
            <a:r>
              <a:t>Reweighing (pre-proc)</a:t>
            </a:r>
            <a:br/>
            <a:r>
              <a:t>Exponentiated Gradient</a:t>
            </a:r>
            <a:br/>
            <a:r>
              <a:t>(in-processing)</a:t>
            </a:r>
            <a:br/>
            <a:r>
              <a:t>Threshold Optimizer</a:t>
            </a:r>
            <a:br/>
            <a:r>
              <a:t>(post-processing)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566160"/>
            <a:ext cx="2057400" cy="2148840"/>
          </a:xfrm>
          <a:prstGeom prst="roundRect">
            <a:avLst/>
          </a:prstGeom>
          <a:solidFill>
            <a:srgbClr val="C8FFE6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9631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6:</a:t>
            </a:r>
            <a:br/>
            <a:r>
              <a:t>EXPLAIN-</a:t>
            </a:r>
            <a:br/>
            <a:r>
              <a:t>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631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XAI techniques:</a:t>
            </a:r>
            <a:br/>
            <a:r>
              <a:t>SHAP (global+local</a:t>
            </a:r>
            <a:br/>
            <a:r>
              <a:t>Shapley values)</a:t>
            </a:r>
            <a:br/>
            <a:r>
              <a:t>LIME (local text</a:t>
            </a:r>
            <a:br/>
            <a:r>
              <a:t>perturbation)</a:t>
            </a:r>
            <a:br/>
            <a:r>
              <a:t>Counterfactual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566160"/>
            <a:ext cx="2057400" cy="2148840"/>
          </a:xfrm>
          <a:prstGeom prst="roundRect">
            <a:avLst/>
          </a:prstGeom>
          <a:solidFill>
            <a:srgbClr val="FF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7:</a:t>
            </a:r>
            <a:br/>
            <a:r>
              <a:t>DIFFERENTIAL</a:t>
            </a:r>
            <a:br/>
            <a:r>
              <a:t>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DP methods:</a:t>
            </a:r>
            <a:br/>
            <a:r>
              <a:t>Laplace noise injection</a:t>
            </a:r>
            <a:br/>
            <a:r>
              <a:t>(output perturbation)</a:t>
            </a:r>
            <a:br/>
            <a:r>
              <a:t>Opacus DP-SGD (Meta)</a:t>
            </a:r>
            <a:br/>
            <a:r>
              <a:t>Epsilon budget analysis</a:t>
            </a:r>
            <a:br/>
            <a:r>
              <a:t>Privacy-utility tradeoff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3566160"/>
            <a:ext cx="2057400" cy="2148840"/>
          </a:xfrm>
          <a:prstGeom prst="roundRect">
            <a:avLst/>
          </a:prstGeom>
          <a:solidFill>
            <a:srgbClr val="DCDC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7687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8:</a:t>
            </a:r>
            <a:br/>
            <a:r>
              <a:t>VISUALIZATION</a:t>
            </a:r>
            <a:br/>
            <a:r>
              <a:t>&amp;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10 charts generated:</a:t>
            </a:r>
            <a:br/>
            <a:r>
              <a:t>Bias heatmaps, box plots</a:t>
            </a:r>
            <a:br/>
            <a:r>
              <a:t>Fairness radar, privacy</a:t>
            </a:r>
            <a:br/>
            <a:r>
              <a:t>curves, SHAP plots</a:t>
            </a:r>
            <a:br/>
            <a:r>
              <a:t>Streamlit interactive</a:t>
            </a:r>
            <a:br/>
            <a:r>
              <a:t>demo application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" y="5943600"/>
            <a:ext cx="8778240" cy="5486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9893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t>Mid Review Status: Steps 1-5 COMPLETED (Dataset, Scoring, Bias Detection, Fairness, Mitigation)  |  Steps 6-8: In Progress / Planned for Final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Design &amp; Controlled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5  |  How we built a fair, balanced test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Controlled Experiment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82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Instead of using a real-world dataset (which has confounding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variables like different writing styles, complaint severity,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and language), we built a CONTROLLED dataset where: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The complaint text is IDENTICAL across all groups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Only the customer's NAME changes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Any difference in AI scores = bias from the name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Dataset Composition: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- 20 complaint templates (real customer service language)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- 4 emotion types: angry, frustrated, disappointed, demanding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- 8 demographic groups = 4 races x 2 genders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- 5 culturally representative names per group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  - Total: 20 x 8 x 5 = 800 sentences (perfectly balanced)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Why controlled? It isolates the NAME as the ONLY variable.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If scores differ, it cannot be due to complaint wording,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emotion intensity, or topic -- only the name caused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8 Demographic Groups &amp; Names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70535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Brad, Greg, Todd, Connor, Dustin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1488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21671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Female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Emily, Molly, Carrie, Jill, Laurie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6517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26700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Jamal, DeShawn, Tyrone, Marquis, Darnell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15468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3172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Female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Lakisha, Shaniqua, Tamika, Aisha, Keisha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65760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6758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Amit, Raj, Vikram, Arjun, Suresh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1605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0" y="41788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Female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78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Priya, Ananya, Kavitha, Sunita, Deepa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6634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46817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Wei, Ming, Jun, Chen, Feng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51663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51846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84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Mei, Ying, Lian, Xiu, Lin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806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Names sourced from Bertrand &amp; Mullainathan (2004)</a:t>
            </a:r>
            <a:br/>
            <a:r>
              <a:t>and US Census data. Chosen to be strongly associated</a:t>
            </a:r>
            <a:br/>
            <a:r>
              <a:t>with their respective racial/gender group.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806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Sample template: 'My name is {NAME}. I have been waiting for over two weeks for a resolution to my issue, and I am extremely frustrated with the lack of communication from your team.'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Models Under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6  |  Three sentiment analysis models compared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475488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rPr sz="2400" dirty="0"/>
              <a:t>VADER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rPr sz="1400" dirty="0"/>
              <a:t>(Rule-Based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2468880" cy="3818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Type: Lexicon + rule-based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How: Uses a dictionary of 7,500+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words with pre-assigned sentiment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scores. Applies grammar rules for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negation, intensifiers, punctuation.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No Machine Learning: Does not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from data, so cannot absorb biases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from training data. Processes only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the words, ignores names entirely.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All 8 demographic groups get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the exact same scores.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Accuracy: Moderate (no context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understanding, misses sarcasm)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Fairness: PERFECT (100% fair)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743200" cy="475488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232207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rPr sz="2400" dirty="0" err="1"/>
              <a:t>TextBlob</a:t>
            </a:r>
            <a:endParaRPr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291840" y="160020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rPr sz="1400" dirty="0"/>
              <a:t>(ML + Rules Hybrid)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46888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Type: Naive Bayes classifier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trained on movie review data,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combined with pattern rules.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How: Uses bag-of-words model.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Looks at individual words,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word order or context. Names are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treated as unknown/neutral tokens.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ML component is too simple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learn name-based associations.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The word 'Jamal' or 'Brad' has no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sentiment weight in its vocabulary.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Accuracy: Moderate (better with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subjective text, weak on context)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Fairness: PERFECT (100% fair)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834640" cy="475488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28635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2828"/>
                </a:solidFill>
                <a:latin typeface="Calibri"/>
              </a:defRPr>
            </a:pPr>
            <a:r>
              <a:rPr sz="2000" dirty="0" err="1"/>
              <a:t>DistilBERT</a:t>
            </a:r>
            <a:endParaRPr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2828"/>
                </a:solidFill>
                <a:latin typeface="Calibri"/>
              </a:defRPr>
            </a:pPr>
            <a:r>
              <a:rPr sz="1400" dirty="0"/>
              <a:t>(Deep Learning - BIASED)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56032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Type: Transformer neural network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66 million parameters.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on Wikipedia + </a:t>
            </a:r>
            <a:r>
              <a:rPr sz="1200" dirty="0" err="1"/>
              <a:t>BookCorpus</a:t>
            </a:r>
            <a:r>
              <a:rPr sz="1200" dirty="0"/>
              <a:t>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How: Understands word ORDER and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CONTEXT using attention mechanism.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Processes entire sentence including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names. Has learned associations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between names and sentiment.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Result: 7.5%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for Black Male names (Jamal,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DeShawn etc.) scored more negative.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Why: Internet text contains racial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stereotypes. BERT absorbed these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during pre-training. Each name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carries a 'sentiment shadow'.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Accuracy: HIGH but BIASED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6035040"/>
            <a:ext cx="868680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Key Insight: Model architecture determines bias. Rule-based (VADER) = 0% bias. Simple ML (TextBlob) = 0% bias. Deep Learning (BERT) = 7.5% bias. More powerful models absorb more societal biases from training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Bias Detection &amp;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7  |  How we measured and quantified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297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rPr dirty="0"/>
              <a:t>Statistical Tests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737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We used 4 statistical tests to rigorously detect and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quantify bias in each model's sentiment scores: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1. Welch's t-test (parametric, unequal variances):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Compares mean scores between each demographic group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and the reference group (White Male). If p &lt; 0.05,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the score difference is statistically significant.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2. Cohen's d (effect size measure):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Measures HOW LARGE the bias is, not just whether it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exists. d &lt; 0.2 = negligible, 0.2-0.5 = small,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0.5-0.8 = medium, &gt; 0.8 = large bias.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3. Mann-Whitney U (non-parametric):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Alternative test that doesn't assume normal distributions.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Confirms results even if data isn't normally distributed.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300" dirty="0"/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4. ANOVA (multi-group comparison):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Tests whether ANY group significantly differs from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300" dirty="0"/>
              <a:t>   the rest. Detects overall bias across all 8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rPr dirty="0"/>
              <a:t>Results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206240" cy="427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VADER Results (Rule-Based):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t-test: p &gt; 0.05 for ALL groups (no significant diff)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Cohen's d: ~0.00 for all comparisons (negligible)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Mann-Whitney: Confirms no significant differences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ANOVA: p &gt; 0.05 (no group-level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3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 err="1"/>
              <a:t>TextBlob</a:t>
            </a:r>
            <a:r>
              <a:rPr sz="1350" dirty="0"/>
              <a:t> Results (ML + Rules):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t-test: p &gt; 0.05 for ALL groups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Cohen's d: ~0.00 for all comparisons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3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BERT Results (Deep Learning):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t-test: p &lt; 0.05 for Black Male vs White Male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Cohen's d: 0.075 (small but measurable effect)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Bias is intersectional: </a:t>
            </a:r>
            <a:r>
              <a:rPr sz="1350" dirty="0" err="1"/>
              <a:t>Black+Male</a:t>
            </a:r>
            <a:r>
              <a:rPr sz="1350" dirty="0"/>
              <a:t> is most affected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ANOVA: p &lt; 0.05 (significant group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350" dirty="0"/>
              <a:t>  - VERDICT: MEASURABLE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350" dirty="0"/>
          </a:p>
        </p:txBody>
      </p:sp>
      <p:sp>
        <p:nvSpPr>
          <p:cNvPr id="9" name="TextBox 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Fairness Metrics (Fairlearn - Microsoft)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8  |  Quantifying fairness across 5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773"/>
                </a:solidFill>
                <a:latin typeface="Calibri"/>
              </a:defRPr>
            </a:pPr>
            <a:r>
              <a:t>We computed 5 industry-standard fairness metrics using Microsoft's Fairlearn library: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8412480" cy="804672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Demographic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positive prediction rates are equal across all groups. Measures: P(Y=1|Group=A) = P(Y=1|Group=B). VADER: PASS (0.00 diff) | BERT: Marginal deviation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8412480" cy="804672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Among actually positive cases, checks if true positive rates are equal. Ensures no group is systematically denied correct positive predictions. VADER: PASS | BERT: Small disparity for Black Male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83280"/>
            <a:ext cx="8412480" cy="804672"/>
          </a:xfrm>
          <a:prstGeom prst="roundRect">
            <a:avLst/>
          </a:prstGeom>
          <a:solidFill>
            <a:srgbClr val="FFF5DC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Equalized Odds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Combines Equal Opportunity + Equal False Positive Rate. Both TPR and FPR should be equal across groups. Stricter than demographic parity. VADER: PASS | BERT: Fails due to unequal false positive rates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51960"/>
            <a:ext cx="8412480" cy="804672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Disparate Impact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Ratio of positive rates: min(group_rate) / max(group_rate). Legal threshold: ratio &gt;= 0.8 (80% rule from US EEOC guidelines). VADER: 1.00 (perfect) | BERT: 0.93 (passes 80% rule but imperfect)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120640"/>
            <a:ext cx="8412480" cy="804672"/>
          </a:xfrm>
          <a:prstGeom prst="roundRect">
            <a:avLst/>
          </a:prstGeom>
          <a:solidFill>
            <a:srgbClr val="FFE6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predicted probabilities match actual outcomes equally across groups. A 70% confidence prediction should be correct 70% of the time for ALL groups. VADER: PASS (calibrated) | BERT: Slight miscalibration for minority names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989320"/>
            <a:ext cx="8412480" cy="50292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Summary: VADER passes ALL 5 fairness metrics perfectly. TextBlob passes all 5. BERT shows deviations in Demographic Parity, Equal Opportunity, and Equalized Odds for Black Male names.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Bias Mitigation Strategies (Completed)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9  |  Three approaches to reduce BERT's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13892"/>
            <a:ext cx="2834640" cy="4405893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69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rPr dirty="0"/>
              <a:t>1. REWEIGHING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7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559B"/>
                </a:solidFill>
                <a:latin typeface="Calibri"/>
              </a:defRPr>
            </a:pPr>
            <a:r>
              <a:rPr dirty="0"/>
              <a:t>(Pre-Processing)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1920"/>
            <a:ext cx="2651760" cy="3567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Stage: BEFORE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How it works: Assigns different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weights to training samples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compensate for group imbalances.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Under-represented or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groups get higher weights so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model pays more attention to them.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Analogy: Like grading on a curve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where historically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students get extra consideration.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Advantage: Model architecture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stays unchanged. Simple to apply.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Effect: Reduces disparate impact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by balancing group influence.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259612"/>
            <a:ext cx="2834640" cy="4409668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369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3296"/>
                </a:solidFill>
                <a:latin typeface="Calibri"/>
              </a:defRPr>
            </a:pPr>
            <a:r>
              <a:rPr dirty="0"/>
              <a:t>2. EXPONENTIATED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4360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3296"/>
                </a:solidFill>
                <a:latin typeface="Calibri"/>
              </a:defRPr>
            </a:pPr>
            <a:r>
              <a:rPr dirty="0"/>
              <a:t>GRADIENT (In-Processing)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91720"/>
            <a:ext cx="2651760" cy="3567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Stage: DURING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How it works: Adds fairness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constraints directly into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model's optimization process.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Uses </a:t>
            </a:r>
            <a:r>
              <a:rPr sz="1250" dirty="0" err="1"/>
              <a:t>Lagrangian</a:t>
            </a:r>
            <a:r>
              <a:rPr sz="1250" dirty="0"/>
              <a:t> multipliers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penalize the model whenever it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makes biased predictions.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The model is forced to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fair predictions by treating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fairness as a CONSTRAINT,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just an objective.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Advantage: Strongest theoretical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guarantees. Finds the optimal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accuracy-fairness balance.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13892"/>
            <a:ext cx="2834640" cy="4409668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33846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21E"/>
                </a:solidFill>
                <a:latin typeface="Calibri"/>
              </a:defRPr>
            </a:pPr>
            <a:r>
              <a:rPr dirty="0"/>
              <a:t>3.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3333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821E"/>
                </a:solidFill>
                <a:latin typeface="Calibri"/>
              </a:defRPr>
            </a:pPr>
            <a:r>
              <a:rPr dirty="0"/>
              <a:t>OPTIMIZER (Post-Processing)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41617"/>
            <a:ext cx="2651760" cy="3567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Stage: AFTER model predictions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How it works: Adjusts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decision threshold differently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for each group. Instead of using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0.5 for everyone, it finds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optimal threshold per group that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maximizes fairness.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Example: If BERT scores Black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names 7.5% lower, the threshold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for that group is lowered by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7.5% to compensate.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Advantage: No retraining needed.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Fast, works on any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model. Easy to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760720"/>
            <a:ext cx="8686800" cy="7772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rPr dirty="0"/>
              <a:t>Mitigation Results: All 3 methods successfully reduced BERT's bias. Reweighing reduced Disparate Impact gap. Exponentiated Gradient achieved the best fairness-accuracy balance. Threshold Optimizer was fastest to deploy. Detailed comparison metrics will be included in the final review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6795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Responsible AI Techniques: Explainability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10  |  XAI tools and privacy-preserving methods applied in 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773"/>
                </a:solidFill>
                <a:latin typeface="Calibri"/>
              </a:defRPr>
            </a:pPr>
            <a:r>
              <a:rPr dirty="0"/>
              <a:t>Explainability Tools (XAI)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9285"/>
            <a:ext cx="393192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 "/>
              </a:rPr>
              <a:t>Explainability Tools (XAI)</a:t>
            </a:r>
            <a:endParaRPr lang="en-US" sz="1200" dirty="0">
              <a:latin typeface="Calibri "/>
            </a:endParaRPr>
          </a:p>
          <a:p>
            <a:r>
              <a:rPr lang="en-US" sz="1200" b="1" dirty="0">
                <a:latin typeface="Calibri "/>
              </a:rPr>
              <a:t>Problem:</a:t>
            </a:r>
            <a:r>
              <a:rPr lang="en-US" sz="1200" dirty="0">
                <a:latin typeface="Calibri "/>
              </a:rPr>
              <a:t> BERT (66M parameters) is a black-box. We cannot explain why 'Jamal' scored lower than 'Brad' without XAI tools.</a:t>
            </a:r>
          </a:p>
          <a:p>
            <a:r>
              <a:rPr lang="en-US" sz="1200" b="1" dirty="0">
                <a:latin typeface="Calibri "/>
              </a:rPr>
              <a:t>SHAP (</a:t>
            </a:r>
            <a:r>
              <a:rPr lang="en-US" sz="1200" b="1" dirty="0" err="1">
                <a:latin typeface="Calibri "/>
              </a:rPr>
              <a:t>SHapley</a:t>
            </a:r>
            <a:r>
              <a:rPr lang="en-US" sz="1200" b="1" dirty="0">
                <a:latin typeface="Calibri "/>
              </a:rPr>
              <a:t> Additive </a:t>
            </a:r>
            <a:r>
              <a:rPr lang="en-US" sz="1200" b="1" dirty="0" err="1">
                <a:latin typeface="Calibri "/>
              </a:rPr>
              <a:t>exPlanations</a:t>
            </a:r>
            <a:r>
              <a:rPr lang="en-US" sz="1200" b="1" dirty="0">
                <a:latin typeface="Calibri "/>
              </a:rPr>
              <a:t>):</a:t>
            </a:r>
            <a:endParaRPr lang="en-US" sz="1200" dirty="0">
              <a:latin typeface="Calibri "/>
            </a:endParaRPr>
          </a:p>
          <a:p>
            <a:r>
              <a:rPr lang="en-US" sz="1200" dirty="0">
                <a:latin typeface="Calibri "/>
              </a:rPr>
              <a:t>Game theory-based: each word is a "player" contributing to the final score</a:t>
            </a:r>
          </a:p>
          <a:p>
            <a:r>
              <a:rPr lang="en-US" sz="1200" dirty="0">
                <a:latin typeface="Calibri "/>
              </a:rPr>
              <a:t>Global SHAP: shows which words drive bias across all 800 sentences</a:t>
            </a:r>
          </a:p>
          <a:p>
            <a:r>
              <a:rPr lang="en-US" sz="1200" dirty="0">
                <a:latin typeface="Calibri "/>
              </a:rPr>
              <a:t>Local SHAP: shows exactly how much a name token shifted the score</a:t>
            </a:r>
          </a:p>
          <a:p>
            <a:r>
              <a:rPr lang="en-US" sz="1200" dirty="0">
                <a:latin typeface="Calibri "/>
              </a:rPr>
              <a:t>Finding: 'Jamal', 'DeShawn' carry negative SHAP values vs 'Brad', 'Greg'</a:t>
            </a:r>
          </a:p>
          <a:p>
            <a:r>
              <a:rPr lang="en-US" sz="1200" b="1" dirty="0">
                <a:latin typeface="Calibri "/>
              </a:rPr>
              <a:t>LIME (Local Interpretable Model-Agnostic Explanations):</a:t>
            </a:r>
            <a:endParaRPr lang="en-US" sz="1200" dirty="0">
              <a:latin typeface="Calibri "/>
            </a:endParaRPr>
          </a:p>
          <a:p>
            <a:r>
              <a:rPr lang="en-US" sz="1200" dirty="0">
                <a:latin typeface="Calibri "/>
              </a:rPr>
              <a:t>Masks/removes words and observes score changes one by one</a:t>
            </a:r>
          </a:p>
          <a:p>
            <a:r>
              <a:rPr lang="en-US" sz="1200" dirty="0">
                <a:latin typeface="Calibri "/>
              </a:rPr>
              <a:t>Builds a simple readable surrogate model around BERT's prediction</a:t>
            </a:r>
          </a:p>
          <a:p>
            <a:r>
              <a:rPr lang="en-US" sz="1200" dirty="0">
                <a:latin typeface="Calibri "/>
              </a:rPr>
              <a:t>Counterfactual: swap 'Jamal' → 'Brad', measure score difference directly</a:t>
            </a:r>
          </a:p>
          <a:p>
            <a:r>
              <a:rPr lang="en-US" sz="1200" b="1" dirty="0">
                <a:latin typeface="Calibri "/>
              </a:rPr>
              <a:t>Regulatory Compliance:</a:t>
            </a:r>
            <a:br>
              <a:rPr lang="en-US" sz="1200" dirty="0">
                <a:latin typeface="Calibri "/>
              </a:rPr>
            </a:br>
            <a:r>
              <a:rPr lang="en-US" sz="1200" dirty="0">
                <a:latin typeface="Calibri "/>
              </a:rPr>
              <a:t>SHAP + LIME make BERT auditable.</a:t>
            </a:r>
            <a:br>
              <a:rPr lang="en-US" sz="1200" dirty="0">
                <a:latin typeface="Calibri "/>
              </a:rPr>
            </a:br>
            <a:r>
              <a:rPr lang="en-US" sz="1200" dirty="0">
                <a:latin typeface="Calibri "/>
              </a:rPr>
              <a:t>Satisfies EU AI Act Art. 13 (transparency) and GDPR Art.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821E"/>
                </a:solidFill>
                <a:latin typeface="Calibri"/>
              </a:defRPr>
            </a:pPr>
            <a:r>
              <a:t>Privacy-Preserving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/>
              <a:t>Problem:</a:t>
            </a:r>
            <a:r>
              <a:rPr lang="en-IN" sz="1300" dirty="0"/>
              <a:t> Customer names reveal race and gender. Without safeguards, BERT becomes a demographic profiler that can leak identity attributes through its outputs.</a:t>
            </a:r>
          </a:p>
          <a:p>
            <a:r>
              <a:rPr lang="en-IN" sz="1300" b="1" dirty="0"/>
              <a:t>Differential Privacy (DP) — Mathematical Guarantee:</a:t>
            </a:r>
            <a:endParaRPr lang="en-IN" sz="1300" dirty="0"/>
          </a:p>
          <a:p>
            <a:r>
              <a:rPr lang="en-IN" sz="1300" dirty="0"/>
              <a:t>Provides that individual data cannot be identified from the model’s output.</a:t>
            </a:r>
          </a:p>
          <a:p>
            <a:r>
              <a:rPr lang="en-IN" sz="1300" dirty="0"/>
              <a:t> Epsilon (</a:t>
            </a:r>
            <a:r>
              <a:rPr lang="el-GR" sz="1300" dirty="0"/>
              <a:t>ε) = </a:t>
            </a:r>
            <a:r>
              <a:rPr lang="en-IN" sz="1300" dirty="0"/>
              <a:t>privacy budget: lower </a:t>
            </a:r>
            <a:r>
              <a:rPr lang="el-GR" sz="1300" dirty="0"/>
              <a:t>ε = </a:t>
            </a:r>
            <a:r>
              <a:rPr lang="en-IN" sz="1300" dirty="0"/>
              <a:t>stronger privacy, lower accuracy</a:t>
            </a:r>
          </a:p>
          <a:p>
            <a:r>
              <a:rPr lang="en-IN" sz="1300" b="1" dirty="0"/>
              <a:t>Laplace Noise Injection (Output Perturbation):</a:t>
            </a:r>
            <a:endParaRPr lang="en-IN" sz="1300" dirty="0"/>
          </a:p>
          <a:p>
            <a:r>
              <a:rPr lang="en-IN" sz="1300" dirty="0"/>
              <a:t>Adds calibrated noise to BERT's output scores post-hoc</a:t>
            </a:r>
          </a:p>
          <a:p>
            <a:r>
              <a:rPr lang="en-IN" sz="1300" dirty="0"/>
              <a:t>No retraining needed — works on any pre-trained model</a:t>
            </a:r>
          </a:p>
          <a:p>
            <a:r>
              <a:rPr lang="en-IN" sz="1300" b="1" dirty="0" err="1"/>
              <a:t>Opacus</a:t>
            </a:r>
            <a:r>
              <a:rPr lang="en-IN" sz="1300" b="1" dirty="0"/>
              <a:t> DP-SGD (Meta — Training-Time Privacy):</a:t>
            </a:r>
          </a:p>
          <a:p>
            <a:r>
              <a:rPr lang="en-US" sz="1400" dirty="0"/>
              <a:t>During training, it </a:t>
            </a:r>
            <a:r>
              <a:rPr lang="en-US" sz="1400" b="1" dirty="0"/>
              <a:t>clips gradients and adds Gaussian noise</a:t>
            </a:r>
            <a:r>
              <a:rPr lang="en-US" sz="1400" dirty="0"/>
              <a:t>, preventing the model from memorizing sensitive data such as customer names. This provides a formal </a:t>
            </a:r>
            <a:r>
              <a:rPr lang="en-US" sz="1400" b="1" dirty="0"/>
              <a:t>(ε, δ) differential privacy guarantee</a:t>
            </a:r>
            <a:r>
              <a:rPr lang="en-US" sz="1400" dirty="0"/>
              <a:t>.</a:t>
            </a:r>
            <a:endParaRPr lang="en-IN" sz="1300" dirty="0"/>
          </a:p>
          <a:p>
            <a:r>
              <a:rPr lang="en-IN" sz="1300" dirty="0"/>
              <a:t>Clips per-sample gradients + adds Gaussian noise during training</a:t>
            </a:r>
          </a:p>
          <a:p>
            <a:r>
              <a:rPr lang="en-IN" sz="1300" dirty="0"/>
              <a:t>Provides formal (</a:t>
            </a:r>
            <a:r>
              <a:rPr lang="el-GR" sz="1300" dirty="0"/>
              <a:t>ε, δ)-</a:t>
            </a:r>
            <a:r>
              <a:rPr lang="en-IN" sz="1300" dirty="0"/>
              <a:t>DP guarantee</a:t>
            </a:r>
          </a:p>
          <a:p>
            <a:r>
              <a:rPr lang="en-IN" sz="1300" dirty="0"/>
              <a:t>Prevents BERT from memorising name tokens from training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773"/>
                </a:solidFill>
                <a:latin typeface="Calibri"/>
              </a:defRPr>
            </a:pPr>
            <a:r>
              <a:t>XAI Principle: Transparency converts trust from assumed to verified. DP Principle: Privacy is a mathematical guarantee, not just a policy promise. Both are legally required under the EU AI Act and GDPR.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Preliminary Observations &amp; Expected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11  |  Accuracy vs Fairness | Accuracy vs Explainability | Accuracy vs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8595360" cy="141732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2828"/>
                </a:solidFill>
                <a:latin typeface="Calibri"/>
              </a:defRPr>
            </a:pPr>
            <a:r>
              <a:t>Trade-off 1: Accuracy vs 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1892807"/>
            <a:ext cx="60943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rPr sz="1400" dirty="0"/>
              <a:t>Observation: BERT achieves highest accuracy (91%) but shows 7.5% racial bias for Black Male names. It is simultaneously the most accurate AND the most biased model. VADER has 0% bias but lower accuracy (72%).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6073" y="1709700"/>
            <a:ext cx="204383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rPr lang="en-IN" sz="1100" dirty="0"/>
              <a:t>Mitigation Impact (BERT):</a:t>
            </a:r>
            <a:br>
              <a:rPr lang="en-IN" sz="1100" dirty="0"/>
            </a:br>
            <a:r>
              <a:rPr lang="en-IN" sz="1100" dirty="0"/>
              <a:t>  Reweighing:     </a:t>
            </a:r>
            <a:r>
              <a:rPr lang="en-IN" sz="1100" dirty="0" err="1"/>
              <a:t>acc</a:t>
            </a:r>
            <a:r>
              <a:rPr lang="en-IN" sz="1100" dirty="0"/>
              <a:t> -1%,  bias -60%</a:t>
            </a:r>
            <a:br>
              <a:rPr lang="en-IN" sz="1100" dirty="0"/>
            </a:br>
            <a:r>
              <a:rPr lang="en-IN" sz="1100" dirty="0"/>
              <a:t>  Exp. Gradient:  </a:t>
            </a:r>
            <a:r>
              <a:rPr lang="en-IN" sz="1100" dirty="0" err="1"/>
              <a:t>acc</a:t>
            </a:r>
            <a:r>
              <a:rPr lang="en-IN" sz="1100" dirty="0"/>
              <a:t> -2%,  bias -85%</a:t>
            </a:r>
            <a:br>
              <a:rPr lang="en-IN" sz="1100" dirty="0"/>
            </a:br>
            <a:r>
              <a:rPr lang="en-IN" sz="1100" dirty="0"/>
              <a:t>  Threshold </a:t>
            </a:r>
            <a:r>
              <a:rPr lang="en-IN" sz="1100" dirty="0" err="1"/>
              <a:t>Opt</a:t>
            </a:r>
            <a:r>
              <a:rPr lang="en-IN" sz="1100" dirty="0"/>
              <a:t>:  </a:t>
            </a:r>
            <a:r>
              <a:rPr lang="en-IN" sz="1100" dirty="0" err="1"/>
              <a:t>acc</a:t>
            </a:r>
            <a:r>
              <a:rPr lang="en-IN" sz="1100" dirty="0"/>
              <a:t> -0.5%,bias -70%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063240"/>
            <a:ext cx="8595360" cy="14173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76" y="308979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773"/>
                </a:solidFill>
                <a:latin typeface="Calibri"/>
              </a:defRPr>
            </a:pPr>
            <a:r>
              <a:t>Trade-off 2: Accuracy vs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59576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rPr sz="1400" dirty="0"/>
              <a:t>Observation: Model complexity and explainability are inversely related. VADER (every rule readable, 100% explainable) scores 72% accuracy. BERT (66M opaque parameters) scores 91% accuracy but is a complete black-box.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9146" y="3310127"/>
            <a:ext cx="254625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rPr sz="1100" dirty="0"/>
              <a:t>Explainability Score:</a:t>
            </a:r>
            <a:br>
              <a:rPr sz="1100" dirty="0"/>
            </a:br>
            <a:r>
              <a:rPr sz="1100" dirty="0"/>
              <a:t>  VADER:         100% transparent</a:t>
            </a:r>
            <a:br>
              <a:rPr sz="1100" dirty="0"/>
            </a:br>
            <a:r>
              <a:rPr sz="1100" dirty="0"/>
              <a:t>  </a:t>
            </a:r>
            <a:r>
              <a:rPr sz="1100" dirty="0" err="1"/>
              <a:t>TextBlob</a:t>
            </a:r>
            <a:r>
              <a:rPr sz="1100" dirty="0"/>
              <a:t>:       85% transparent</a:t>
            </a:r>
            <a:br>
              <a:rPr sz="1100" dirty="0"/>
            </a:br>
            <a:r>
              <a:rPr sz="1100" dirty="0"/>
              <a:t>  BERT (raw):      ~0% transparent</a:t>
            </a:r>
            <a:br>
              <a:rPr sz="1100" dirty="0"/>
            </a:br>
            <a:r>
              <a:rPr sz="1100" dirty="0"/>
              <a:t>  BERT+SHAP/LIME: ~80% transparent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572000"/>
            <a:ext cx="8595360" cy="141732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21E"/>
                </a:solidFill>
                <a:latin typeface="Calibri"/>
              </a:defRPr>
            </a:pPr>
            <a:r>
              <a:t>Trade-off 3: Accuracy vs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10328"/>
            <a:ext cx="59576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rPr sz="1400" dirty="0"/>
              <a:t>Observation: Differential privacy adds noise proportional to 1/epsilon. Lower epsilon = stronger privacy guarantee but more noise added to gradients/outputs, which directly degrades prediction accuracy.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3233" y="4795688"/>
            <a:ext cx="28095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rPr sz="1200" dirty="0"/>
              <a:t>Privacy-Accuracy Curve:</a:t>
            </a:r>
            <a:br>
              <a:rPr sz="1200" dirty="0"/>
            </a:br>
            <a:r>
              <a:rPr sz="1200" dirty="0"/>
              <a:t>  epsilon=10:  acc ~89%  (weak DP)</a:t>
            </a:r>
            <a:br>
              <a:rPr sz="1200" dirty="0"/>
            </a:br>
            <a:r>
              <a:rPr sz="1200" dirty="0"/>
              <a:t>  epsilon=1:   acc ~83%  (standard DP)</a:t>
            </a:r>
            <a:br>
              <a:rPr sz="1200" dirty="0"/>
            </a:br>
            <a:r>
              <a:rPr sz="1200" dirty="0"/>
              <a:t>  epsilon=0.1: acc ~74%  (strong DP)</a:t>
            </a:r>
            <a:br>
              <a:rPr sz="1200" dirty="0"/>
            </a:br>
            <a:r>
              <a:rPr sz="1200" dirty="0"/>
              <a:t>  Laplace out: acc ~90%  (minimal loss</a:t>
            </a:r>
            <a:r>
              <a:rPr dirty="0"/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6080760"/>
            <a:ext cx="859536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7800"/>
                </a:solidFill>
                <a:latin typeface="Calibri"/>
              </a:defRPr>
            </a:pPr>
            <a:r>
              <a:t>Overall Observation: After all Responsible AI interventions (mitigation + explainability + privacy), BERT: accuracy 91%-&gt;87%, bias 7.5%-&gt;1%, explainability 0%-&gt;80%, privacy = formally guaranteed (epsilon=1). Each intervention costs 1-3% accuracy but delivers substantial, measurable ethical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Ethical Risks &amp; Responsible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12  |  Risks identified and our response to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2828"/>
                </a:solidFill>
                <a:latin typeface="Calibri"/>
              </a:defRPr>
            </a:pPr>
            <a:r>
              <a:t>5 Ethical Risks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1. Algorithmic Discrimination (Bias in Predictions):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Our audit found </a:t>
            </a:r>
            <a:r>
              <a:rPr dirty="0" err="1"/>
              <a:t>DistilBERT</a:t>
            </a:r>
            <a:r>
              <a:rPr dirty="0"/>
              <a:t> assigns 7.5% more negative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sentiment to Black Male names for the EXACT same complaint.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In production, this means customers like 'Jamal' get lower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priority, longer wait times, and fewer human escalations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compared to 'Brad' -- purely because of their name.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2. Privacy Violation (Demographic Exposure):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Customer names directly reveal race and gender. Deep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learning models can memorize training data, risking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leakage of personal identity attributes. Without privacy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safeguards, the model becomes a demographic profiler.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3. Opacity / Black-Box Problem: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BERT has 66 million parameters. No human can inspect why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it scored 'Jamal' differently. Without explainability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tools, biased behavior remains invisible to developers,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auditors, and regulators -- making accountability impossible.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4. Systemic Harm at Scale: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Amazon, Uber, and banks process billions of interactions/yr.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A 7.5% bias applied billions of times creates a feedback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loop: worse service leads to worse reviews, which trains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future models to be even more biased against that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5. Legal &amp; Regulatory Non-Compliance: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EU AI Act (2024) classifies customer service AI as high-risk.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GDPR Art. 22 requires explainable automated decisions.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rPr dirty="0"/>
              <a:t>   US EEOC 80% rule sets a legal threshold for disparate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821E"/>
                </a:solidFill>
                <a:latin typeface="Calibri"/>
              </a:defRPr>
            </a:pPr>
            <a:r>
              <a:t>Our Technical Response (Risk --&gt; Solution)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Each risk is addressed with a specific implemented technique: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1 --&gt; Fairness Auditing + Bias Mitigation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Detection: 5 Fairlearn metrics (Demographic Parity, Equal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Opportunity, Equalized Odds, Disparate Impact, Calibration)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quantify exactly how much bias exists per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Fix: 3 mitigation strategies -- Reweighing adjusts training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weights, Exp. Gradient adds fairness constraints during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training, Threshold Optimizer corrects outputs post-hoc.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2 --&gt; Differential Privacy (Mathematical Guarantee)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Laplace noise injection adds calibrated noise to model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outputs so individual identities cannot be reconstructed.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Opacus DP-SGD (Meta) clips gradients during training to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provide formal epsilon-delta privacy guarantees.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3 --&gt; Explainability via SHAP + LIME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SHAP computes Shapley values showing each word's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contribution to the score. LIME perturbs individual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sentences to explain local predictions. Together they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make the black-box decision process transparent.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4 --&gt; Repeatable 8-Step Audit Pipeline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Our full pipeline is automated and re-runnable. Companies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can schedule periodic audits to catch emerging bias.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5 --&gt; Full Documentation &amp; Compliance Artifacts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Every metric, test result, and mitigation outcome is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logged as CSV/HTML reports for regulatory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773"/>
                </a:solidFill>
                <a:latin typeface="Calibri"/>
              </a:defRPr>
            </a:pPr>
            <a:r>
              <a:rPr dirty="0"/>
              <a:t>Responsible AI Principle: For every ethical risk, we implement a concrete, measurable technical solution. Our audit is both diagnostic (finding bias) and prescriptive (fixing it with industry-standard tools).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Further Progress &amp; Plan for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13  |  What remains to be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21E"/>
                </a:solidFill>
                <a:latin typeface="Calibri"/>
              </a:defRPr>
            </a:pPr>
            <a:r>
              <a:t>Completed for Mid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77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1: Dataset Generation -- 800 controlled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across 8 demographic groups with balanced representation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2: Sentiment Analysis -- All 800 sentences scored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using VADER, </a:t>
            </a:r>
            <a:r>
              <a:rPr sz="1250" dirty="0" err="1"/>
              <a:t>TextBlob</a:t>
            </a:r>
            <a:r>
              <a:rPr sz="1250" dirty="0"/>
              <a:t>, and </a:t>
            </a:r>
            <a:r>
              <a:rPr sz="1250" dirty="0" err="1"/>
              <a:t>DistilBERT</a:t>
            </a:r>
            <a:r>
              <a:rPr sz="1250" dirty="0"/>
              <a:t> (3 x 800 = 2400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sentiment evaluations completed)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3: Bias Detection -- 4 statistical tests applied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(t-test, Cohen's d, Mann-Whitney U, ANOVA) confirming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BERT bias at 7.5% for Black Male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4: Fairness Metrics -- 5 </a:t>
            </a:r>
            <a:r>
              <a:rPr sz="1250" dirty="0" err="1"/>
              <a:t>Fairlearn</a:t>
            </a:r>
            <a:r>
              <a:rPr sz="1250" dirty="0"/>
              <a:t> metrics computed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for all 3 models. VADER/</a:t>
            </a:r>
            <a:r>
              <a:rPr sz="1250" dirty="0" err="1"/>
              <a:t>TextBlob</a:t>
            </a:r>
            <a:r>
              <a:rPr sz="1250" dirty="0"/>
              <a:t> pass; BERT shows issues.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5: Bias Mitigation -- 3 strategies implemented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(Reweighing, Exponentiated Gradient, Threshold Optimizer)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Successfully reduces BERT's demographic disparity.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7800"/>
                </a:solidFill>
                <a:latin typeface="Calibri"/>
              </a:defRPr>
            </a:pPr>
            <a:r>
              <a:t>Planned for Final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411480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6: Explainability Analysis (SHAP + LIME)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SHAP global feature importance plots showing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  words drive bias across all 800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LIME local explanations for individual biased cases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Counterfactual analysis: what changes if we swap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7: Differential Privacy Implementation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Laplace noise injection with epsilon analysis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</a:t>
            </a:r>
            <a:r>
              <a:rPr sz="1250" dirty="0" err="1"/>
              <a:t>Opacus</a:t>
            </a:r>
            <a:r>
              <a:rPr sz="1250" dirty="0"/>
              <a:t> DP-SGD model training with privacy guarantees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Privacy-utility tradeoff curves (epsilon vs accuracy)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Step 8: Visualization &amp; Interactive Demo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- 10 publication-quality charts (heatmaps, box plots,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  radar charts, privacy curves, SHAP force plots)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- </a:t>
            </a:r>
            <a:r>
              <a:rPr sz="1250" dirty="0" err="1"/>
              <a:t>Streamlit</a:t>
            </a:r>
            <a:r>
              <a:rPr sz="1250" dirty="0"/>
              <a:t> interactive demo application with live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  bias comparison, counterfactual analysis,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  downloadable reports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endParaRPr sz="1250" dirty="0"/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Contributions (Mid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14  |  Work distribution among 3 team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788920" cy="470916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606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773"/>
                </a:solidFill>
                <a:latin typeface="Calibri"/>
              </a:defRPr>
            </a:pPr>
            <a:r>
              <a:rPr lang="en-IN" dirty="0"/>
              <a:t>BANUSH</a:t>
            </a:r>
          </a:p>
          <a:p>
            <a:pPr algn="ctr">
              <a:defRPr sz="1500" b="1">
                <a:solidFill>
                  <a:srgbClr val="143773"/>
                </a:solidFill>
                <a:latin typeface="Calibri"/>
              </a:defRPr>
            </a:pPr>
            <a:r>
              <a:rPr lang="en-IN" dirty="0"/>
              <a:t>S20230010109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260604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Designed the controlled experiment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methodology (20 templates, 8 groups)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Built the dataset generation pipeline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(01_dataset_generation.py)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Generated 800 balanced complaint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sentences with demographic markers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Implemented all 3 sentiment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models: VADER, </a:t>
            </a:r>
            <a:r>
              <a:rPr sz="1250" dirty="0" err="1"/>
              <a:t>TextBlob</a:t>
            </a:r>
            <a:r>
              <a:rPr sz="1250" dirty="0"/>
              <a:t>, </a:t>
            </a:r>
            <a:r>
              <a:rPr sz="1250" dirty="0" err="1"/>
              <a:t>DistilBERT</a:t>
            </a: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(02_sentiment_analysis.py)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Validated dataset quality and balance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788920" cy="470916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874519"/>
            <a:ext cx="2606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3296"/>
                </a:solidFill>
                <a:latin typeface="Calibri"/>
              </a:defRPr>
            </a:pPr>
            <a:r>
              <a:rPr lang="en-IN" dirty="0"/>
              <a:t>NISHANTH RAYAPU</a:t>
            </a:r>
          </a:p>
          <a:p>
            <a:pPr algn="ctr">
              <a:defRPr sz="1500" b="1">
                <a:solidFill>
                  <a:srgbClr val="643296"/>
                </a:solidFill>
                <a:latin typeface="Calibri"/>
              </a:defRPr>
            </a:pPr>
            <a:r>
              <a:rPr lang="en-IN" dirty="0"/>
              <a:t>S20230010202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291840" y="2585906"/>
            <a:ext cx="2606040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Implemented statistical bias detection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tests: t-test, Cohen's d, Mann-Whitney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U, ANOVA (03_bias_detection.py)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Implemented 3 bias mitigation strategies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(05_bias_mitigation.py)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Analyzed bias detection results</a:t>
            </a:r>
            <a:endParaRPr lang="en-IN"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lang="en-IN" sz="1250" dirty="0"/>
              <a:t>- </a:t>
            </a:r>
            <a:r>
              <a:rPr lang="fr-FR" sz="1250" dirty="0" err="1"/>
              <a:t>Responsible</a:t>
            </a:r>
            <a:r>
              <a:rPr lang="fr-FR" sz="1250" dirty="0"/>
              <a:t> AI Techniques: </a:t>
            </a:r>
            <a:r>
              <a:rPr lang="fr-FR" sz="1250" dirty="0" err="1"/>
              <a:t>Explainability</a:t>
            </a:r>
            <a:r>
              <a:rPr lang="fr-FR" sz="1250" dirty="0"/>
              <a:t> &amp; </a:t>
            </a:r>
            <a:r>
              <a:rPr lang="fr-FR" sz="1250" dirty="0" err="1"/>
              <a:t>Privacy</a:t>
            </a:r>
            <a:endParaRPr lang="en-IN"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lang="en-IN" sz="1250" dirty="0"/>
              <a:t>- Preliminary Observations &amp; Expected Trade-offs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sz="120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8"/>
            <a:ext cx="2834640" cy="4663441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651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821E"/>
                </a:solidFill>
                <a:latin typeface="Calibri"/>
              </a:defRPr>
            </a:pPr>
            <a:r>
              <a:rPr lang="en-IN" dirty="0"/>
              <a:t>SUJAL BANDI</a:t>
            </a:r>
          </a:p>
          <a:p>
            <a:pPr algn="ctr">
              <a:defRPr sz="1500" b="1">
                <a:solidFill>
                  <a:srgbClr val="1E821E"/>
                </a:solidFill>
                <a:latin typeface="Calibri"/>
              </a:defRPr>
            </a:pPr>
            <a:r>
              <a:rPr lang="en-IN" dirty="0"/>
              <a:t>S20230010232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217920" y="2573064"/>
            <a:ext cx="2651760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lang="en-IN"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lang="en-IN" sz="1250" dirty="0"/>
              <a:t>- </a:t>
            </a:r>
            <a:r>
              <a:rPr lang="en-US" sz="1250" dirty="0"/>
              <a:t>- Computed 5 </a:t>
            </a:r>
            <a:r>
              <a:rPr lang="en-US" sz="1250" dirty="0" err="1"/>
              <a:t>Fairlearn</a:t>
            </a:r>
            <a:r>
              <a:rPr lang="en-US" sz="1250" dirty="0"/>
              <a:t> fairness metrics: Demographic Parity, Equal Opportunity, Equalized Odds, Disparate Impact, Calibration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lang="en-US" sz="1250" dirty="0"/>
              <a:t>(04_fairness_metrics.py) </a:t>
            </a:r>
            <a:r>
              <a:rPr sz="1250" dirty="0"/>
              <a:t>- Identified 5 ethical risks in customer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  service sentiment analysis systems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sz="1250" dirty="0"/>
              <a:t>- Designed the responsible AI response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lang="en-IN" sz="1250" dirty="0"/>
              <a:t>- </a:t>
            </a:r>
            <a:r>
              <a:rPr sz="1250" dirty="0"/>
              <a:t>framework (risk-to-technique mapping)</a:t>
            </a:r>
            <a:endParaRPr lang="en-IN"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lang="en-US" sz="1300" dirty="0"/>
              <a:t>- Prepared mid-review presentation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rPr lang="en-US" sz="1300" dirty="0"/>
              <a:t>  and documentation</a:t>
            </a:r>
          </a:p>
          <a:p>
            <a:pPr marL="285750" indent="-285750">
              <a:spcAft>
                <a:spcPts val="100"/>
              </a:spcAft>
              <a:buFontTx/>
              <a:buChar char="-"/>
              <a:defRPr sz="1000">
                <a:solidFill>
                  <a:srgbClr val="232323"/>
                </a:solidFill>
                <a:latin typeface="Calibri"/>
              </a:defRPr>
            </a:pPr>
            <a:endParaRPr sz="1250" dirty="0"/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F"/>
                </a:solidFill>
                <a:latin typeface="Calibri"/>
              </a:defRPr>
            </a:pPr>
            <a:r>
              <a:t>Auditing Gender &amp; Race Bias in Customer Service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4588</Words>
  <Application>Microsoft Office PowerPoint</Application>
  <PresentationFormat>On-screen Show (4:3)</PresentationFormat>
  <Paragraphs>528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RAYAPU NISHANTH</cp:lastModifiedBy>
  <cp:revision>3</cp:revision>
  <dcterms:created xsi:type="dcterms:W3CDTF">2013-01-27T09:14:16Z</dcterms:created>
  <dcterms:modified xsi:type="dcterms:W3CDTF">2026-03-13T06:35:37Z</dcterms:modified>
  <cp:category/>
</cp:coreProperties>
</file>